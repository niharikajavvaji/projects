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EC2DFB-27C4-4B95-8C2C-4A7062CE67E9}">
  <a:tblStyle styleId="{F5EC2DFB-27C4-4B95-8C2C-4A7062CE67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64389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26438982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26438982c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26438982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2547225"/>
            <a:ext cx="100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Traffic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Intelligence</a:t>
            </a:r>
            <a:r>
              <a:rPr b="1" i="0" lang="en-US" sz="60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3423525"/>
            <a:ext cx="952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 &amp; Strategic Insights for Urban Mobility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0325"/>
            <a:ext cx="52387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9432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Snapshot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1623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 extensive analysis of urban traffic flows spanning 48,024 chronological records across 4 key city junctions.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05600" y="3533775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Objective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05600" y="4019550"/>
            <a:ext cx="4629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identify the primary drivers of traffic volume and prepare a high-fidelity feature matrix for predictive modeling.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9624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48k+ Time-series observations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2672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17+ Engineered features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5720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Multimodal signal integration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5600" y="29146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47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195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243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52650"/>
            <a:ext cx="52387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10025"/>
            <a:ext cx="52387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543050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705600" y="2438400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01. Preprocessing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05600" y="2924175"/>
            <a:ext cx="4629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Standardizing continuous environmental variables and cleaning chronological sequences.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05600" y="4295775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02. Feature Engineering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05600" y="4781550"/>
            <a:ext cx="4629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Generating temporal lags and behavioral flags to capture sequential dependencies.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Pipeline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1762"/>
            <a:ext cx="49530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17764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Analysis reveals a distinct bimodal peak pattern, characterizing the urban commuter rhythm.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814387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Pulse</a:t>
            </a: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 of Mobility</a:t>
            </a:r>
            <a:endParaRPr/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2475" y="9"/>
            <a:ext cx="5899525" cy="685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5" y="-381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2543" y="224313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574631" y="3319462"/>
            <a:ext cx="4314825" cy="223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Workdays: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Highly predictable commuter peaks.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574631" y="3767137"/>
            <a:ext cx="43149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Weekends: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Smoother, leisure-driven distribution.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574631" y="4214812"/>
            <a:ext cx="4314825" cy="223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Holidays: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Significant anomalies in volume.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2264568" y="3414712"/>
            <a:ext cx="1409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71%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264568" y="4100512"/>
            <a:ext cx="140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Workday Volume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6300819" y="3359987"/>
            <a:ext cx="142800" cy="1428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300831" y="3807662"/>
            <a:ext cx="142800" cy="1428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300831" y="4255337"/>
            <a:ext cx="142800" cy="142800"/>
          </a:xfrm>
          <a:prstGeom prst="roundRect">
            <a:avLst>
              <a:gd fmla="val 439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Weekly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Seasonality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24250"/>
            <a:ext cx="52387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23241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While weather parameters like temperature and wind speed were measured, EDA shows they act as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minor behavioral modifiers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rather than primary drivers.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1453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95350" y="3810000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Standardization Note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95350" y="4295775"/>
            <a:ext cx="4629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Continuous features like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temperature_2m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relative_humidity_2m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were Z-scaled to mean 0, variance 1.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Weather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34924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00325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600325"/>
            <a:ext cx="34924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95350" y="3533775"/>
            <a:ext cx="30269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Lag_1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95350" y="4019550"/>
            <a:ext cx="288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Traffic count from 1 hour ago. Captures the most immediate temporal dependency.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673500" y="3533775"/>
            <a:ext cx="30270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Lag_2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673500" y="4019550"/>
            <a:ext cx="2882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Traffic count from 2 hours ago. Helps in identifying short-term velocity trends.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451800" y="3533775"/>
            <a:ext cx="30269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Lag_24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451800" y="4019550"/>
            <a:ext cx="288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Traffic from same hour yesterday. Captures daily cyclic seasonality.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29146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3500" y="29146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1800" y="29146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Sequential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Lags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47815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Finding: Immediate history (lag_1) is the single most powerful predictor, representing over 93% of global split importance.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Dominance</a:t>
            </a: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 Factor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23955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Validating non-linear signals. MI highlights structural features often overlooked by tree models.</a:t>
            </a:r>
            <a:endParaRPr/>
          </a:p>
        </p:txBody>
      </p:sp>
      <p:graphicFrame>
        <p:nvGraphicFramePr>
          <p:cNvPr id="188" name="Google Shape;188;p21"/>
          <p:cNvGraphicFramePr/>
          <p:nvPr/>
        </p:nvGraphicFramePr>
        <p:xfrm>
          <a:off x="571500" y="2890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{F5EC2DFB-27C4-4B95-8C2C-4A7062CE67E9}</a:tableStyleId>
              </a:tblPr>
              <a:tblGrid>
                <a:gridCol w="3247875"/>
                <a:gridCol w="3189975"/>
                <a:gridCol w="4611150"/>
              </a:tblGrid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A0A0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lag_1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1.2144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Dominant Signal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0.3994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Critical 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hour_only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0.0925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Cyclic Signal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is_concert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0.0046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Event Trigger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1"/>
          <p:cNvSpPr/>
          <p:nvPr/>
        </p:nvSpPr>
        <p:spPr>
          <a:xfrm>
            <a:off x="571500" y="3895725"/>
            <a:ext cx="324787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3819376" y="3895725"/>
            <a:ext cx="3189982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7009358" y="3895725"/>
            <a:ext cx="461114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71500" y="4400550"/>
            <a:ext cx="324787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819376" y="4400550"/>
            <a:ext cx="3189982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009358" y="4400550"/>
            <a:ext cx="461114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71500" y="4905375"/>
            <a:ext cx="324787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819376" y="4905375"/>
            <a:ext cx="3189982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009358" y="4905375"/>
            <a:ext cx="461114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71500" y="5410200"/>
            <a:ext cx="324787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819376" y="5410200"/>
            <a:ext cx="3189982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009358" y="5410200"/>
            <a:ext cx="461114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Mutual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Information</a:t>
            </a: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 Gain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200501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052637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6381750" y="2790825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Overrides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381750" y="3009900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Special events like concerts and sports events show low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Global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importance but high 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Local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impact.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343650" y="3810000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381750" y="3810000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Protecting Accuracy: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These flags prevent the model from treating surges as unexplainable errors.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343650" y="4419600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381750" y="4419600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Sparse Signals: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Even with low frequency, they are vital for edge-case forecasting.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Anomaly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5525"/>
            <a:ext cx="52387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47925"/>
            <a:ext cx="52387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895350" y="3228975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Dropped Features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895350" y="3714750"/>
            <a:ext cx="4629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Removed to reduce noise and computational complexity: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705600" y="3381375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Retained Features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705600" y="386715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Critical structural and temporal drivers:</a:t>
            </a:r>
            <a:endParaRPr/>
          </a:p>
        </p:txBody>
      </p:sp>
      <p:pic>
        <p:nvPicPr>
          <p:cNvPr descr="image.png" id="227" name="Google Shape;22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26098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857250" y="43243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95350" y="432435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Rain (Redundant with Temp)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857250" y="46291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95350" y="462915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Wind Speed (Low MI/Importance)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57250" y="49339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895350" y="493395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Snowfall (Zero Variance)</a:t>
            </a:r>
            <a:endParaRPr/>
          </a:p>
        </p:txBody>
      </p:sp>
      <p:pic>
        <p:nvPicPr>
          <p:cNvPr descr="image.png" id="234" name="Google Shape;2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5600" y="27622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6667500" y="41719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705600" y="417195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Lags (1, 2, 24)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667500" y="44767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705600" y="447675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Spatial (Junction)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667500" y="47815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705600" y="4781550"/>
            <a:ext cx="462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Event Flags (Concerts/Sports)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Optimized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</a:t>
            </a: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 Set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59584"/>
            <a:ext cx="5238750" cy="11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264035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Strategy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2859434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With a pruned, high-fidelity feature matrix, the next phase focuses on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XGBoost Regressor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implementation for short-term forecasting.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1453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895350" y="4345334"/>
            <a:ext cx="46291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"We have transformed raw environmental data into actionable mobility intelligence."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You to green font as in previous slides heading some part of the heading is whie and some part as green" id="258" name="Google Shape;2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